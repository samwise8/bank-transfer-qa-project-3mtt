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Bank Transfer QA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3MTT Software Testing Portfolio</a:t>
            </a:r>
          </a:p>
          <a:p>
            <a:pPr>
              <a:defRPr sz="1700"/>
            </a:pPr>
            <a:r>
              <a:t>Test Plan • Test Execution • API Testing • Summary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Objective: evaluate the quality and reliability of a simulated bank transfer workflow.</a:t>
            </a:r>
          </a:p>
          <a:p>
            <a:pPr>
              <a:spcAft>
                <a:spcPts val="1000"/>
              </a:spcAft>
              <a:defRPr sz="1800"/>
            </a:pPr>
            <a:r>
              <a:t>Focus: functional behaviour, validation, error handling, transaction outcomes and API behaviour.</a:t>
            </a:r>
          </a:p>
          <a:p>
            <a:pPr>
              <a:spcAft>
                <a:spcPts val="1000"/>
              </a:spcAft>
              <a:defRPr sz="1800"/>
            </a:pPr>
            <a:r>
              <a:t>Deliverables: test plan, test artifacts, API collection, test summary report and portfolio presentation.</a:t>
            </a:r>
          </a:p>
          <a:p>
            <a:pPr>
              <a:spcAft>
                <a:spcPts val="1000"/>
              </a:spcAft>
              <a:defRPr sz="1800"/>
            </a:pPr>
            <a:r>
              <a:t>Approach: risk-based manual testing supported by API test scenarios.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Testing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Verify that valid transfers can be initiated and completed correctly.</a:t>
            </a:r>
          </a:p>
          <a:p>
            <a:pPr>
              <a:spcAft>
                <a:spcPts val="1000"/>
              </a:spcAft>
              <a:defRPr sz="1800"/>
            </a:pPr>
            <a:r>
              <a:t>Validate mandatory fields, invalid inputs and boundary conditions.</a:t>
            </a:r>
          </a:p>
          <a:p>
            <a:pPr>
              <a:spcAft>
                <a:spcPts val="1000"/>
              </a:spcAft>
              <a:defRPr sz="1800"/>
            </a:pPr>
            <a:r>
              <a:t>Confirm appropriate handling of insufficient funds and invalid account details.</a:t>
            </a:r>
          </a:p>
          <a:p>
            <a:pPr>
              <a:spcAft>
                <a:spcPts val="1000"/>
              </a:spcAft>
              <a:defRPr sz="1800"/>
            </a:pPr>
            <a:r>
              <a:t>Verify transaction status, error responses and user-facing feedback.</a:t>
            </a:r>
          </a:p>
          <a:p>
            <a:pPr>
              <a:spcAft>
                <a:spcPts val="1000"/>
              </a:spcAft>
              <a:defRPr sz="1800"/>
            </a:pPr>
            <a:r>
              <a:t>Identify defects and risks before a transfer feature is released.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Scope of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Transfer initiation and transaction processing.</a:t>
            </a:r>
          </a:p>
          <a:p>
            <a:pPr>
              <a:spcAft>
                <a:spcPts val="1000"/>
              </a:spcAft>
              <a:defRPr sz="1800"/>
            </a:pPr>
            <a:r>
              <a:t>Account and beneficiary validation.</a:t>
            </a:r>
          </a:p>
          <a:p>
            <a:pPr>
              <a:spcAft>
                <a:spcPts val="1000"/>
              </a:spcAft>
              <a:defRPr sz="1800"/>
            </a:pPr>
            <a:r>
              <a:t>Amount validation and balance checks.</a:t>
            </a:r>
          </a:p>
          <a:p>
            <a:pPr>
              <a:spcAft>
                <a:spcPts val="1000"/>
              </a:spcAft>
              <a:defRPr sz="1800"/>
            </a:pPr>
            <a:r>
              <a:t>Success, failure and error handling.</a:t>
            </a:r>
          </a:p>
          <a:p>
            <a:pPr>
              <a:spcAft>
                <a:spcPts val="1000"/>
              </a:spcAft>
              <a:defRPr sz="1800"/>
            </a:pPr>
            <a:r>
              <a:t>API request/response validation.</a:t>
            </a:r>
          </a:p>
          <a:p>
            <a:pPr>
              <a:spcAft>
                <a:spcPts val="1000"/>
              </a:spcAft>
              <a:defRPr sz="1800"/>
            </a:pPr>
            <a:r>
              <a:t>Out of scope: production banking infrastructure, real financial transactions and live customer accounts.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Test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Functional testing — confirm expected business rules and workflows.</a:t>
            </a:r>
          </a:p>
          <a:p>
            <a:pPr>
              <a:spcAft>
                <a:spcPts val="1000"/>
              </a:spcAft>
              <a:defRPr sz="1800"/>
            </a:pPr>
            <a:r>
              <a:t>Negative testing — deliberately use invalid or incomplete inputs.</a:t>
            </a:r>
          </a:p>
          <a:p>
            <a:pPr>
              <a:spcAft>
                <a:spcPts val="1000"/>
              </a:spcAft>
              <a:defRPr sz="1800"/>
            </a:pPr>
            <a:r>
              <a:t>Boundary-value testing — check limits around transfer amounts and fields.</a:t>
            </a:r>
          </a:p>
          <a:p>
            <a:pPr>
              <a:spcAft>
                <a:spcPts val="1000"/>
              </a:spcAft>
              <a:defRPr sz="1800"/>
            </a:pPr>
            <a:r>
              <a:t>API testing — validate endpoints, payloads, status codes and response data.</a:t>
            </a:r>
          </a:p>
          <a:p>
            <a:pPr>
              <a:spcAft>
                <a:spcPts val="1000"/>
              </a:spcAft>
              <a:defRPr sz="1800"/>
            </a:pPr>
            <a:r>
              <a:t>Regression-focused checks — ensure changes do not break previously working functionality.</a:t>
            </a:r>
          </a:p>
          <a:p>
            <a:pPr>
              <a:spcAft>
                <a:spcPts val="1000"/>
              </a:spcAft>
              <a:defRPr sz="1800"/>
            </a:pPr>
            <a:r>
              <a:t>Defect reporting — document expected vs actual results with severity and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Key Test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Successful transfer with valid sender, beneficiary and amount.</a:t>
            </a:r>
          </a:p>
          <a:p>
            <a:pPr>
              <a:spcAft>
                <a:spcPts val="1000"/>
              </a:spcAft>
              <a:defRPr sz="1800"/>
            </a:pPr>
            <a:r>
              <a:t>Transfer with insufficient account balance.</a:t>
            </a:r>
          </a:p>
          <a:p>
            <a:pPr>
              <a:spcAft>
                <a:spcPts val="1000"/>
              </a:spcAft>
              <a:defRPr sz="1800"/>
            </a:pPr>
            <a:r>
              <a:t>Transfer using an invalid beneficiary/account number.</a:t>
            </a:r>
          </a:p>
          <a:p>
            <a:pPr>
              <a:spcAft>
                <a:spcPts val="1000"/>
              </a:spcAft>
              <a:defRPr sz="1800"/>
            </a:pPr>
            <a:r>
              <a:t>Transfer with missing mandatory fields.</a:t>
            </a:r>
          </a:p>
          <a:p>
            <a:pPr>
              <a:spcAft>
                <a:spcPts val="1000"/>
              </a:spcAft>
              <a:defRPr sz="1800"/>
            </a:pPr>
            <a:r>
              <a:t>Transfer with zero, negative or otherwise invalid amount.</a:t>
            </a:r>
          </a:p>
          <a:p>
            <a:pPr>
              <a:spcAft>
                <a:spcPts val="1000"/>
              </a:spcAft>
              <a:defRPr sz="1800"/>
            </a:pPr>
            <a:r>
              <a:t>Transfer at permitted amount boundaries.</a:t>
            </a:r>
          </a:p>
          <a:p>
            <a:pPr>
              <a:spcAft>
                <a:spcPts val="1000"/>
              </a:spcAft>
              <a:defRPr sz="1800"/>
            </a:pPr>
            <a:r>
              <a:t>Duplicate or repeated transfer attempt.</a:t>
            </a:r>
          </a:p>
          <a:p>
            <a:pPr>
              <a:spcAft>
                <a:spcPts val="1000"/>
              </a:spcAft>
              <a:defRPr sz="1800"/>
            </a:pPr>
            <a:r>
              <a:t>API response validation for successful and unsuccessful requests.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Test Case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Each test case captures: ID, scenario, preconditions, test data, steps, expected result, actual result and status.</a:t>
            </a:r>
          </a:p>
          <a:p>
            <a:pPr>
              <a:spcAft>
                <a:spcPts val="1000"/>
              </a:spcAft>
              <a:defRPr sz="1800"/>
            </a:pPr>
            <a:r>
              <a:t>Positive cases establish the happy path.</a:t>
            </a:r>
          </a:p>
          <a:p>
            <a:pPr>
              <a:spcAft>
                <a:spcPts val="1000"/>
              </a:spcAft>
              <a:defRPr sz="1800"/>
            </a:pPr>
            <a:r>
              <a:t>Negative cases challenge validation and error handling.</a:t>
            </a:r>
          </a:p>
          <a:p>
            <a:pPr>
              <a:spcAft>
                <a:spcPts val="1000"/>
              </a:spcAft>
              <a:defRPr sz="1800"/>
            </a:pPr>
            <a:r>
              <a:t>Boundary cases target minimum and maximum permitted values.</a:t>
            </a:r>
          </a:p>
          <a:p>
            <a:pPr>
              <a:spcAft>
                <a:spcPts val="1000"/>
              </a:spcAft>
              <a:defRPr sz="1800"/>
            </a:pPr>
            <a:r>
              <a:t>Traceability connects requirements, scenarios and observed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API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API test assets are stored in the repository under the api/ directory.</a:t>
            </a:r>
          </a:p>
          <a:p>
            <a:pPr>
              <a:spcAft>
                <a:spcPts val="1000"/>
              </a:spcAft>
              <a:defRPr sz="1800"/>
            </a:pPr>
            <a:r>
              <a:t>Requests represent common bank-transfer operations.</a:t>
            </a:r>
          </a:p>
          <a:p>
            <a:pPr>
              <a:spcAft>
                <a:spcPts val="1000"/>
              </a:spcAft>
              <a:defRPr sz="1800"/>
            </a:pPr>
            <a:r>
              <a:t>Validation areas include request payloads, response structure, HTTP status behaviour and transaction outcomes.</a:t>
            </a:r>
          </a:p>
          <a:p>
            <a:pPr>
              <a:spcAft>
                <a:spcPts val="1000"/>
              </a:spcAft>
              <a:defRPr sz="1800"/>
            </a:pPr>
            <a:r>
              <a:t>API testing complements UI-level checks by validating service behaviour directly.</a:t>
            </a:r>
          </a:p>
          <a:p>
            <a:pPr>
              <a:spcAft>
                <a:spcPts val="1000"/>
              </a:spcAft>
              <a:defRPr sz="1800"/>
            </a:pPr>
            <a:r>
              <a:t>Postman-compatible collection format supports repeatable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Defect &amp; Risk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Critical: incorrect transaction result, duplicate debit or unintended transfer.</a:t>
            </a:r>
          </a:p>
          <a:p>
            <a:pPr>
              <a:spcAft>
                <a:spcPts val="1000"/>
              </a:spcAft>
              <a:defRPr sz="1800"/>
            </a:pPr>
            <a:r>
              <a:t>High: incorrect balance validation, failed beneficiary validation or misleading success status.</a:t>
            </a:r>
          </a:p>
          <a:p>
            <a:pPr>
              <a:spcAft>
                <a:spcPts val="1000"/>
              </a:spcAft>
              <a:defRPr sz="1800"/>
            </a:pPr>
            <a:r>
              <a:t>Medium: incomplete validation, incorrect error messaging or inconsistent response data.</a:t>
            </a:r>
          </a:p>
          <a:p>
            <a:pPr>
              <a:spcAft>
                <a:spcPts val="1000"/>
              </a:spcAft>
              <a:defRPr sz="1800"/>
            </a:pPr>
            <a:r>
              <a:t>Low: cosmetic or documentation issues with limited functional impact.</a:t>
            </a:r>
          </a:p>
          <a:p>
            <a:pPr>
              <a:spcAft>
                <a:spcPts val="1000"/>
              </a:spcAft>
              <a:defRPr sz="1800"/>
            </a:pPr>
            <a:r>
              <a:t>Priority is based on customer impact, financial risk, likelihood and recoverability.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Test Execution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40</a:t>
            </a:r>
          </a:p>
          <a:p>
            <a:pPr algn="ctr">
              <a:defRPr sz="1200"/>
            </a:pPr>
            <a:r>
              <a:t>Total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41732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31</a:t>
            </a:r>
          </a:p>
          <a:p>
            <a:pPr algn="ctr">
              <a:defRPr sz="1200"/>
            </a:pPr>
            <a:r>
              <a:t>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41732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7</a:t>
            </a:r>
          </a:p>
          <a:p>
            <a:pPr algn="ctr">
              <a:defRPr sz="1200"/>
            </a:pPr>
            <a:r>
              <a:t>Failed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41732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2</a:t>
            </a:r>
          </a:p>
          <a:p>
            <a:pPr algn="ctr">
              <a:defRPr sz="1200"/>
            </a:pPr>
            <a:r>
              <a:t>Blocked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1417320"/>
            <a:ext cx="1828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77.5%</a:t>
            </a:r>
          </a:p>
          <a:p>
            <a:pPr algn="ctr">
              <a:defRPr sz="1200"/>
            </a:pPr>
            <a:r>
              <a:t>Pass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Exit criterion: 95% pass rate — NOT MET.</a:t>
            </a:r>
          </a:p>
          <a:p>
            <a:pPr>
              <a:spcAft>
                <a:spcPts val="900"/>
              </a:spcAft>
              <a:defRPr sz="1700"/>
            </a:pPr>
            <a:r>
              <a:t>Defects: 3 Critical, 4 High, 2 Medium, 1 Low.</a:t>
            </a:r>
          </a:p>
          <a:p>
            <a:pPr>
              <a:spcAft>
                <a:spcPts val="900"/>
              </a:spcAft>
              <a:defRPr sz="1700"/>
            </a:pPr>
            <a:r>
              <a:t>Major risks: duplicate transactions, unsafe network-failure handling, expired OTP acceptance, fee/limit validation and transaction-history consistency.</a:t>
            </a:r>
          </a:p>
          <a:p>
            <a:pPr>
              <a:spcAft>
                <a:spcPts val="900"/>
              </a:spcAft>
              <a:defRPr sz="1700"/>
            </a:pPr>
            <a:r>
              <a:t>Release recommendation: NOT RECOMMENDED FOR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10.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Maintain automated regression coverage for critical transfer flows.</a:t>
            </a:r>
          </a:p>
          <a:p>
            <a:pPr>
              <a:spcAft>
                <a:spcPts val="1000"/>
              </a:spcAft>
              <a:defRPr sz="1800"/>
            </a:pPr>
            <a:r>
              <a:t>Validate transaction idempotency to reduce duplicate-transfer risk.</a:t>
            </a:r>
          </a:p>
          <a:p>
            <a:pPr>
              <a:spcAft>
                <a:spcPts val="1000"/>
              </a:spcAft>
              <a:defRPr sz="1800"/>
            </a:pPr>
            <a:r>
              <a:t>Use clear, consistent error codes and customer-facing messages.</a:t>
            </a:r>
          </a:p>
          <a:p>
            <a:pPr>
              <a:spcAft>
                <a:spcPts val="1000"/>
              </a:spcAft>
              <a:defRPr sz="1800"/>
            </a:pPr>
            <a:r>
              <a:t>Monitor API response times and failed transaction patterns.</a:t>
            </a:r>
          </a:p>
          <a:p>
            <a:pPr>
              <a:spcAft>
                <a:spcPts val="1000"/>
              </a:spcAft>
              <a:defRPr sz="1800"/>
            </a:pPr>
            <a:r>
              <a:t>Keep test data controlled and representative of realistic banking scenarios.</a:t>
            </a:r>
          </a:p>
          <a:p>
            <a:pPr>
              <a:spcAft>
                <a:spcPts val="1000"/>
              </a:spcAft>
              <a:defRPr sz="1800"/>
            </a:pPr>
            <a:r>
              <a:t>Update test cases whenever transfer business rules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11. Repository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README.md — project overview and navigation.</a:t>
            </a:r>
          </a:p>
          <a:p>
            <a:pPr>
              <a:spcAft>
                <a:spcPts val="1000"/>
              </a:spcAft>
              <a:defRPr sz="1800"/>
            </a:pPr>
            <a:r>
              <a:t>documentation/ — test plan and test summary report.</a:t>
            </a:r>
          </a:p>
          <a:p>
            <a:pPr>
              <a:spcAft>
                <a:spcPts val="1000"/>
              </a:spcAft>
              <a:defRPr sz="1800"/>
            </a:pPr>
            <a:r>
              <a:t>test-artifacts/ — structured test execution artifacts.</a:t>
            </a:r>
          </a:p>
          <a:p>
            <a:pPr>
              <a:spcAft>
                <a:spcPts val="1000"/>
              </a:spcAft>
              <a:defRPr sz="1800"/>
            </a:pPr>
            <a:r>
              <a:t>api/ — simulated bank-transfer API collection.</a:t>
            </a:r>
          </a:p>
          <a:p>
            <a:pPr>
              <a:spcAft>
                <a:spcPts val="1000"/>
              </a:spcAft>
              <a:defRPr sz="1800"/>
            </a:pPr>
            <a:r>
              <a:t>presentation/ — this portfolio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The project demonstrates a structured QA approach to a financial transaction workflow.</a:t>
            </a:r>
          </a:p>
          <a:p>
            <a:pPr>
              <a:spcAft>
                <a:spcPts val="1000"/>
              </a:spcAft>
              <a:defRPr sz="1800"/>
            </a:pPr>
            <a:r>
              <a:t>Testing combines functional, negative, boundary and API-focused techniques.</a:t>
            </a:r>
          </a:p>
          <a:p>
            <a:pPr>
              <a:spcAft>
                <a:spcPts val="1000"/>
              </a:spcAft>
              <a:defRPr sz="1800"/>
            </a:pPr>
            <a:r>
              <a:t>Clear documentation improves traceability and supports informed release decisions.</a:t>
            </a:r>
          </a:p>
          <a:p>
            <a:pPr>
              <a:spcAft>
                <a:spcPts val="1000"/>
              </a:spcAft>
              <a:defRPr sz="1800"/>
            </a:pPr>
            <a:r>
              <a:t>The repository provides evidence of practical software testing skills for a 3MTT portfolio.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